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Database Query Performance Advisor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150">
                <a:solidFill>
                  <a:srgbClr val="1B2A2E"/>
                </a:solidFill>
                <a:latin typeface="Calibri"/>
              </a:defRPr>
            </a:pPr>
            <a:r>
              <a:t>Project Overview &amp; Core Mission</a:t>
            </a:r>
            <a:endParaRPr lang="en-US" sz="1400" dirty="0"/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Requirements (Functional &amp; Non-Functional)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System Architecture (3-Tier &amp; AI Performance Engine)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Use Case &amp; Database ER Diagrams (MongoDB 1:N)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System Modules &amp; Technology Stack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UI Design, Frontend &amp; Backend Engineering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Database Integration &amp; Real Express REST APIs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Implementation Status &amp; Telemetry HUD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Live Application Screenshots &amp; Real-World Challenges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Strategic Roadmap &amp; Official References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200">
                <a:solidFill>
                  <a:srgbClr val="1B2A2E"/>
                </a:solidFill>
                <a:latin typeface="Calibri"/>
              </a:defRPr>
            </a:pPr>
            <a:r>
              <a:t>User authentication with JWT (Sign Up, Sign In, session persistence).</a:t>
            </a:r>
            <a:endParaRPr lang="en-US" sz="1350" dirty="0"/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Raw query input &amp; execution plan ingestion (SQL / MongoDB query format).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Automated performance diagnostics: Full-table scan detection, join cost analysis, and missing index flags.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Query rewrite and indexing recommendations generated via the Analyzer engine.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Historical analysis report archiving and client-side PDF export (exportPdf.js).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200">
                <a:solidFill>
                  <a:srgbClr val="1B2A2E"/>
                </a:solidFill>
                <a:latin typeface="Calibri"/>
              </a:defRPr>
            </a:pPr>
            <a:r>
              <a:t>Performance: Analysis turnaround under 1.5 seconds per query.</a:t>
            </a:r>
            <a:endParaRPr lang="en-US" sz="1350" dirty="0"/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Security: Secure password hashing using bcryptjs and route protection with Bearer tokens.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Usability: Modern, responsive interface with code editors and metrics visualization.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Reliability: MongoDB persistence with health-check monitoring and data isolation.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Maintainability: Modular React components and decoupled Express service layers.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  <a:defRPr sz="1150">
                <a:solidFill>
                  <a:srgbClr val="1B2A2E"/>
                </a:solidFill>
                <a:latin typeface="Calibri"/>
              </a:defRPr>
            </a:pPr>
            <a:r>
              <a:t>React.js + Vite (Code Editor &amp; HUD)</a:t>
            </a:r>
            <a:endParaRPr lang="en-US" sz="1150" dirty="0"/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Client PDF Generator (jsPDF + autotable)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Session State &amp; Local Storage Management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1300" b="1">
                <a:solidFill>
                  <a:srgbClr val="028090"/>
                </a:solidFill>
                <a:latin typeface="Calibri"/>
              </a:defRPr>
            </a:pPr>
            <a:r>
              <a:t>APPLICATION &amp; AI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  <a:defRPr sz="1150">
                <a:solidFill>
                  <a:srgbClr val="1B2A2E"/>
                </a:solidFill>
                <a:latin typeface="Calibri"/>
              </a:defRPr>
            </a:pPr>
            <a:r>
              <a:t>Node.js + Express.js REST Framework</a:t>
            </a:r>
            <a:endParaRPr lang="en-US" sz="1150" dirty="0"/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Security Middleware (JWT Auth &amp; bcryptjs)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AI Analyzer Service (analyzer.js): AST parsing, scan detection &amp; index advice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  <a:defRPr sz="1150">
                <a:solidFill>
                  <a:srgbClr val="1B2A2E"/>
                </a:solidFill>
                <a:latin typeface="Calibri"/>
              </a:defRPr>
            </a:pPr>
            <a:r>
              <a:t>MongoDB NoSQL Cloud Cluster</a:t>
            </a:r>
            <a:endParaRPr lang="en-US" sz="1150" dirty="0"/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users &amp; reports collections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Unique &amp; compound indexes for sub-second retrieval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50">
                <a:solidFill>
                  <a:srgbClr val="1B2A2E"/>
                </a:solidFill>
                <a:latin typeface="Calibri"/>
              </a:defRPr>
            </a:pPr>
            <a:r>
              <a:t>Data Flow: Client submits raw queries/execution plans via REST endpoints; AI Analyzer engine performs heuristic bottleneck detection and index advice; results persisted to MongoDB and exported as client-side PDF.</a:t>
            </a:r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100">
                <a:solidFill>
                  <a:srgbClr val="1B2A2E"/>
                </a:solidFill>
                <a:latin typeface="Calibri"/>
              </a:defRPr>
            </a:pPr>
            <a:r>
              <a:t>Key Architectural Enhancement: Decoupled AI diagnostic engine (analyzer.js) isolates compute-intensive AST query parsing and rule evaluation from HTTP handling.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Use Case Specification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100">
                <a:solidFill>
                  <a:srgbClr val="1B2A2E"/>
                </a:solidFill>
                <a:latin typeface="Calibri"/>
              </a:defRPr>
            </a:pPr>
            <a:r>
              <a:t>Primary Actor: Database Developer / DBA / Registered User</a:t>
            </a:r>
            <a:endParaRPr lang="en-US" sz="1200" dirty="0"/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Core System Use Cases: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User Sign-Up &amp; Secure Login (JWT token &amp; session persistence)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Ingest Raw SQL Query &amp; Execution Plan breakdown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Automated Performance Diagnostics: Detect full-table scans &amp; joins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AI Recommendation Engine: Composite B-Tree indexes &amp; rewrites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Query History Archiving: Persist &amp; filter past runs in MongoDB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Client-Side PDF Generation: Instant download of DBA audit reports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  <p:pic>
        <p:nvPicPr>
          <p:cNvPr id="14" name="Picture 13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83080"/>
            <a:ext cx="5943600" cy="40233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83080"/>
            <a:ext cx="5943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/ Database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MongoDB Schema (1:N)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050">
                <a:solidFill>
                  <a:srgbClr val="1B2A2E"/>
                </a:solidFill>
                <a:latin typeface="Calibri"/>
              </a:defRPr>
            </a:pPr>
            <a:r>
              <a:t>1. User Entity (models/User.js):</a:t>
            </a:r>
            <a:endParaRPr lang="en-US" sz="1200" dirty="0"/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_id: ObjectId (Primary Key)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name: String (User display name)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email: String (Unique index, normalized lowercase)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password: String (Hashed with bcryptjs)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createdAt: Timestamp (Account registration date)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2. Report Entity (models/Report.js):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_id: ObjectId (Primary Key)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userId: ObjectId (Foreign Key -&gt; User._id)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query: String (Raw SQL / Execution plan)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databaseType: String (MySQL, PostgreSQL, MongoDB)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executionTime / cost: Number/Object (Score metrics)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recommendations: Array/Text (AI rewrites &amp; indexes)</a:t>
            </a:r>
          </a:p>
          <a:p>
            <a:pPr>
              <a:spcAft>
                <a:spcPts val="600"/>
              </a:spcAft>
              <a:defRPr sz="1050">
                <a:solidFill>
                  <a:srgbClr val="1B2A2E"/>
                </a:solidFill>
                <a:latin typeface="Calibri"/>
              </a:defRPr>
            </a:pPr>
            <a:r>
              <a:t>• createdAt: Timestamp (Compound indexed)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83080"/>
            <a:ext cx="5943600" cy="40233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83080"/>
            <a:ext cx="5943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Key Functions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Authentication Module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Secure user onboarding and session management.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User registration, login, bcrypt password hashing, JWT token validation.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Query Diagnostic Engine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Parses database queries and execution plans.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Syntax parsing, missing index detection, scan-type identification, execution cost scoring.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AI Advisor &amp; Recommendation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Synthesizes optimized query structures and index strategies.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Suggests composite indexes, query rewrites, schema indexing suggestions.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Report History &amp; Export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Persists diagnostic history and exports client deliverables.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Save report to MongoDB, filter past analyses, generate downloadable PDF reports.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Analytics &amp; Telemetry HUD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Aggregates performance telemetry and historical benchmarks.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Visual score gauges (0-100), risk tier categorization, and historical query filtering.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150">
                <a:solidFill>
                  <a:srgbClr val="1B2A2E"/>
                </a:solidFill>
                <a:latin typeface="Calibri"/>
              </a:defRPr>
            </a:pPr>
            <a:r>
              <a:t>jsPDF &amp; jsPDF-AutoTable (client-side multi-page PDF generation with auto table formatting)</a:t>
            </a:r>
            <a:endParaRPr lang="en-US" sz="1300" dirty="0"/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Lucide React (modern dashboard &amp; editor icons, visual metric indicators)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AI Query Diagnostic Engine (heuristic rule-based parser &amp; AST rewrite advisor)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JWT &amp; bcryptjs (token validation &amp; secure credential hashing)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Vite (lightning-fast frontend tooling, HMR &amp; build optimization)</a:t>
            </a:r>
          </a:p>
          <a:p>
            <a:pPr>
              <a:spcAft>
                <a:spcPts val="600"/>
              </a:spcAft>
              <a:defRPr sz="1150">
                <a:solidFill>
                  <a:srgbClr val="1B2A2E"/>
                </a:solidFill>
                <a:latin typeface="Calibri"/>
              </a:defRPr>
            </a:pPr>
            <a:r>
              <a:t>MongoDB Node.js Driver (direct connection pool &amp; compound index querying)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/ Application Screens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UI Design &amp; Core Screens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100">
                <a:solidFill>
                  <a:srgbClr val="1B2A2E"/>
                </a:solidFill>
                <a:latin typeface="Calibri"/>
              </a:defRPr>
            </a:pPr>
            <a:r>
              <a:t>Interactive Screen Architecture:</a:t>
            </a:r>
            <a:endParaRPr lang="en-US" sz="1200" dirty="0"/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Authentication Portal: Tabbed sign-up, login, and JWT session handling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SQL Query Workbench: Code editor with sample query presets &amp; validation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Real-Time Performance HUD: Score gauge (0-100), risk badge (Low/Med/High)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AI Advisor Panel: Actionable index recommendations &amp; sargable rewrites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Analytics Dashboard: Historical query trends, average scores &amp; report search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• PDF Export Engine: Instant client-side download of DBA-ready performance audits</a:t>
            </a:r>
          </a:p>
          <a:p>
            <a:pPr>
              <a:spcAft>
                <a:spcPts val="600"/>
              </a:spcAft>
              <a:defRPr sz="1100">
                <a:solidFill>
                  <a:srgbClr val="1B2A2E"/>
                </a:solidFill>
                <a:latin typeface="Calibri"/>
              </a:defRPr>
            </a:pPr>
            <a:r>
              <a:t>Live Vercel Deployment: https://client-black-pi-23.vercel.app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  <p:pic>
        <p:nvPicPr>
          <p:cNvPr id="14" name="Picture 13" descr="slide8_workb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83080"/>
            <a:ext cx="5943600" cy="40233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83080"/>
            <a:ext cx="5943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200">
                <a:solidFill>
                  <a:srgbClr val="1B2A2E"/>
                </a:solidFill>
                <a:latin typeface="Calibri"/>
              </a:defRPr>
            </a:pPr>
            <a:r>
              <a:t>Built with React.js and Vite using modern functional components and custom React Hooks (useState, useEffect).</a:t>
            </a:r>
            <a:endParaRPr lang="en-US" sz="1500" dirty="0"/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Real-time query workbench featuring code editors, risk scoring gauges, and bottleneck telemetry.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Modular components: Navigation Sidebar, Query Editor, Findings HUD, Index Advisor, and Analytics Dashboard.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Client-side multi-page PDF generation via jspdf and jspdf-autotable with dynamic page-break calculations.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Responsive dark-themed modern UI designed with Tailwind CSS principles and lucide-react iconography.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Seamless backend communication using Fetch API with centralized JWT Bearer token authorization headers.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200">
                <a:solidFill>
                  <a:srgbClr val="1B2A2E"/>
                </a:solidFill>
                <a:latin typeface="Calibri"/>
              </a:defRPr>
            </a:pPr>
            <a:r>
              <a:t>Node.js &amp; Express.js RESTful API architecture with CORS, JSON body-parsing, and no-cache security middleware.</a:t>
            </a:r>
            <a:endParaRPr lang="en-US" sz="1500" dirty="0"/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Secure authentication pipeline utilizing bcryptjs for salted password hashing and jsonwebtoken for signed Bearer tokens.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AI Performance Engine (services/analyzer.js): Static AST analysis detecting SELECT *, non-sargable functions (LOWER(), UPPER()), leading wildcards (LIKE '%term'), and unindexed joins.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Automated query rewrite generator synthesizing covering index queries, anchored prefix searches, and bounded LIMIT clauses.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Comprehensive endpoints: /api/auth/*, /api/analyze, /api/reports, /api/stats, and /api/health verifying MongoDB connectivity.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200">
                <a:solidFill>
                  <a:srgbClr val="1B2A2E"/>
                </a:solidFill>
                <a:latin typeface="Calibri"/>
              </a:defRPr>
            </a:pPr>
            <a:r>
              <a:t>Persistent MongoDB NoSQL database (query_performance_advisors) connected via official MongoDB Driver.</a:t>
            </a:r>
            <a:endParaRPr lang="en-US" sz="1500" dirty="0"/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users collection: Stores user credentials with an enforced unique lowercase index on email.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reports collection: Stores diagnostic runs, raw SQL queries, cost scores, and AI recommendations.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Compound index on { userId: 1, createdAt: -1 } for sub-second retrieval of user-scoped query history.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Strict referential separation: Each user only accesses their own diagnostic reports via JWT identity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Health probe endpoint (/api/health) verifying real-time database connection state, latency, and active collection metadata.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/api/auth/register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Register new user account with hashed password.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Authenticate credentials and return JWT bearer token.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/api/analyze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Submit query &amp; execution plan to AI analyzer engine.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/api/reports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Fetch all previously saved analysis reports for authenticated user.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/api/reports/:id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Retrieve specific report details for inspection or PDF generation.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DELETE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/api/reports/:id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Remove a saved report from user query history.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1B2A2E"/>
                </a:solidFill>
                <a:latin typeface="Calibri"/>
              </a:defRPr>
            </a:pPr>
            <a:r>
              <a:t>User Authentication (JWT &amp; bcrypt)</a:t>
            </a:r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1B2A2E"/>
                </a:solidFill>
                <a:latin typeface="Calibri"/>
              </a:defRPr>
            </a:pPr>
            <a:r>
              <a:t>Frontend UI (Query Editor, Metrics &amp; Advisor View)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0" y="2505456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1B2A2E"/>
                </a:solidFill>
                <a:latin typeface="Calibri"/>
              </a:defRPr>
            </a:pPr>
            <a:r>
              <a:t>Query Performance Analyzer Engine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0" y="3127248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1B2A2E"/>
                </a:solidFill>
                <a:latin typeface="Calibri"/>
              </a:defRPr>
            </a:pPr>
            <a:r>
              <a:t>Database &amp; Report Persistence (MongoDB)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1B2A2E"/>
                </a:solidFill>
                <a:latin typeface="Calibri"/>
              </a:defRPr>
            </a:pPr>
            <a:r>
              <a:t>PDF Report Generation (jspdf-autotable)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>
                <a:solidFill>
                  <a:srgbClr val="1B2A2E"/>
                </a:solidFill>
                <a:latin typeface="Calibri"/>
              </a:defRPr>
            </a:pPr>
            <a:r>
              <a:t>Deployment (Vercel Client + Cloud Backend)</a:t>
            </a:r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0" y="4992624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85%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  <p:pic>
        <p:nvPicPr>
          <p:cNvPr id="17" name="Picture 16" descr="screen1_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755648"/>
            <a:ext cx="4809744" cy="1746504"/>
          </a:xfrm>
          <a:prstGeom prst="rect">
            <a:avLst/>
          </a:prstGeom>
        </p:spPr>
      </p:pic>
      <p:pic>
        <p:nvPicPr>
          <p:cNvPr id="18" name="Picture 17" descr="screen2_work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755648"/>
            <a:ext cx="4809744" cy="1746504"/>
          </a:xfrm>
          <a:prstGeom prst="rect">
            <a:avLst/>
          </a:prstGeom>
        </p:spPr>
      </p:pic>
      <p:pic>
        <p:nvPicPr>
          <p:cNvPr id="19" name="Picture 18" descr="screen3_tele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813048"/>
            <a:ext cx="4809744" cy="1746504"/>
          </a:xfrm>
          <a:prstGeom prst="rect">
            <a:avLst/>
          </a:prstGeom>
        </p:spPr>
      </p:pic>
      <p:pic>
        <p:nvPicPr>
          <p:cNvPr id="20" name="Picture 19" descr="screen4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813048"/>
            <a:ext cx="4809744" cy="174650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755648"/>
            <a:ext cx="4809744" cy="1746504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755648"/>
            <a:ext cx="4809744" cy="174650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813048"/>
            <a:ext cx="4809744" cy="174650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813048"/>
            <a:ext cx="4809744" cy="17465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Solution Adopted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Complex SQL Parsing - Varied dialect syntaxes (PostgreSQL, MySQL)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Implemented standardized heuristic tokenization and execution plan breakdown before passing to the advisor.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Multi-page PDF Formatting - Performance tables and code snippets were clipping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Integrated jspdf-autotable with dynamic page-break calculations to ensure large queries and recommendation lists format cleanly.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Real-Time UI State Management Across Async Steps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Centralized execution state using React hooks and modular async handler functions in App.jsx for smooth transitions across raw inputs, AST metrics, and AI recommendations.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Non-Sargable Query Detection Without DB Execution Overhead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Developed static pattern matching for function wrappers (LOWER(), UPPER()) and wildcard scans (LIKE '%term') to flag index invalidation safely.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  <a:defRPr sz="1200">
                <a:solidFill>
                  <a:srgbClr val="1B2A2E"/>
                </a:solidFill>
                <a:latin typeface="Calibri"/>
              </a:defRPr>
            </a:pPr>
            <a:r>
              <a:t>Native Execution Plan Ingestion: Direct JSON parsing for MySQL EXPLAIN FORMAT=JSON and PostgreSQL EXPLAIN (ANALYZE, BUFFERS).</a:t>
            </a:r>
            <a:endParaRPr lang="en-US" sz="1500" dirty="0"/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NoSQL / MongoDB Aggregation Optimization: Extend optimizer to detect unindexed $lookup stages, missing pipeline indexes, and memory-intensive $sort operations.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Automated Migration Script Generator: Produce instant executable DDL scripts (CREATE INDEX ...) tailored to target database dialects.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Historical Benchmark Comparison: Visual before-and-after query latency graphs tracking performance improvements post-indexing.</a:t>
            </a:r>
          </a:p>
          <a:p>
            <a:pPr>
              <a:spcAft>
                <a:spcPts val="600"/>
              </a:spcAft>
              <a:defRPr sz="1200">
                <a:solidFill>
                  <a:srgbClr val="1B2A2E"/>
                </a:solidFill>
                <a:latin typeface="Calibri"/>
              </a:defRPr>
            </a:pPr>
            <a:r>
              <a:t>Collaborative Team Workspaces: Shared team query repositories with role-based governance and audit history.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MySQL 8.4 Reference Manual — EXPLAIN Statement &amp; Query Execution Plan Optimization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PostgreSQL Documentation — Performance Tips, Indexes, and EXPLAIN Cost Modeling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MongoDB Official Documentation — Query Optimization, Aggregation Pipeline, and Index Strategies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2A2E"/>
                          </a:solidFill>
                          <a:latin typeface="Calibri"/>
                        </a:rPr>
                        <a:t>Express.js &amp; Node.js Documentation — REST API Design, Security Middleware, and JWT Authentication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QueryPilot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